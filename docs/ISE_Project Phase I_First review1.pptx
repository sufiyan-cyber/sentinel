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58" r:id="rId4"/>
    <p:sldId id="262" r:id="rId5"/>
    <p:sldId id="261" r:id="rId6"/>
    <p:sldId id="259" r:id="rId7"/>
    <p:sldId id="275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46036BD-C74D-4615-9478-C82269D0BFFD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</a:rPr>
            </a:fld>
            <a:endParaRPr lang="en-US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7CF6CA-CF49-4629-B184-9B67E7C53F8E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AutoShape 2" descr="vtu.ac.in - The Statesman"/>
          <p:cNvSpPr>
            <a:spLocks noChangeAspect="1"/>
          </p:cNvSpPr>
          <p:nvPr/>
        </p:nvSpPr>
        <p:spPr>
          <a:xfrm>
            <a:off x="1044575" y="138747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3075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307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134938"/>
            <a:ext cx="3130550" cy="1979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3078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307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9038" y="341313"/>
            <a:ext cx="1566862" cy="1566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Rectangle 10"/>
          <p:cNvSpPr/>
          <p:nvPr/>
        </p:nvSpPr>
        <p:spPr>
          <a:xfrm>
            <a:off x="2460625" y="341313"/>
            <a:ext cx="7527925" cy="1416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000" b="1" dirty="0">
                <a:solidFill>
                  <a:srgbClr val="002060"/>
                </a:solidFill>
                <a:cs typeface="Arial" panose="020B0604020202020204" pitchFamily="34" charset="0"/>
              </a:rPr>
              <a:t>The Oxford College of Engineering</a:t>
            </a:r>
            <a:endParaRPr lang="en-US" altLang="en-US" sz="30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0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600" b="1" dirty="0">
                <a:solidFill>
                  <a:srgbClr val="002060"/>
                </a:solidFill>
                <a:cs typeface="Arial" panose="020B0604020202020204" pitchFamily="34" charset="0"/>
              </a:rPr>
              <a:t>Department of Information Science and Engineering</a:t>
            </a:r>
            <a:endParaRPr lang="en-US" altLang="en-US" sz="2600" b="1" dirty="0">
              <a:solidFill>
                <a:srgbClr val="002060"/>
              </a:solidFill>
              <a:ea typeface="Arial" panose="020B0604020202020204" pitchFamily="34" charset="0"/>
            </a:endParaRPr>
          </a:p>
        </p:txBody>
      </p:sp>
      <p:sp>
        <p:nvSpPr>
          <p:cNvPr id="3081" name="Rectangle 11"/>
          <p:cNvSpPr/>
          <p:nvPr/>
        </p:nvSpPr>
        <p:spPr>
          <a:xfrm>
            <a:off x="2366963" y="2027238"/>
            <a:ext cx="7529512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000" b="1" dirty="0">
                <a:solidFill>
                  <a:srgbClr val="FF0000"/>
                </a:solidFill>
                <a:cs typeface="Arial" panose="020B0604020202020204" pitchFamily="34" charset="0"/>
              </a:rPr>
              <a:t>BIS786 - Project Phase –II /</a:t>
            </a:r>
            <a:r>
              <a:rPr lang="en-US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First Review</a:t>
            </a:r>
            <a:endParaRPr lang="en-US" altLang="en-US" sz="24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6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3082" name="Rectangle 13"/>
          <p:cNvSpPr/>
          <p:nvPr/>
        </p:nvSpPr>
        <p:spPr>
          <a:xfrm>
            <a:off x="307975" y="3022600"/>
            <a:ext cx="11337925" cy="757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Title : An Intelligent Zero-Trust Architecture For Cloud-Based Applications Leveraging Behavioral Analytics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3" name="Rectangle 14"/>
          <p:cNvSpPr/>
          <p:nvPr/>
        </p:nvSpPr>
        <p:spPr>
          <a:xfrm>
            <a:off x="7657624" y="4289425"/>
            <a:ext cx="3577590" cy="1476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Batch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1. Prathiba(1OX23IS063)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     2.Shreya Singh(1OX23IS069)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      3.Sufiyan Khan S(1OX23IS091)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          4. Vachanashree(1OX23IS100)</a:t>
            </a:r>
            <a:endParaRPr lang="en-US" altLang="en-US" sz="1800" b="1" dirty="0">
              <a:ea typeface="Arial" panose="020B0604020202020204" pitchFamily="34" charset="0"/>
            </a:endParaRPr>
          </a:p>
        </p:txBody>
      </p:sp>
      <p:sp>
        <p:nvSpPr>
          <p:cNvPr id="3084" name="Rectangle 15"/>
          <p:cNvSpPr/>
          <p:nvPr/>
        </p:nvSpPr>
        <p:spPr>
          <a:xfrm>
            <a:off x="-220662" y="4481513"/>
            <a:ext cx="3878262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Guided by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Mr.Yadhukrishna  M.R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Assistant professor, Dept of ISE</a:t>
            </a:r>
            <a:endParaRPr lang="en-US" altLang="en-US" sz="1800" b="1" dirty="0">
              <a:ea typeface="Arial" panose="020B0604020202020204" pitchFamily="34" charset="0"/>
            </a:endParaRPr>
          </a:p>
        </p:txBody>
      </p:sp>
      <p:sp>
        <p:nvSpPr>
          <p:cNvPr id="3085" name="Rectangle 12"/>
          <p:cNvSpPr/>
          <p:nvPr/>
        </p:nvSpPr>
        <p:spPr>
          <a:xfrm>
            <a:off x="9720263" y="6008688"/>
            <a:ext cx="1423987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cs typeface="Arial" panose="020B0604020202020204" pitchFamily="34" charset="0"/>
              </a:rPr>
              <a:t>Date:17-08-2026</a:t>
            </a:r>
            <a:endParaRPr lang="en-US" altLang="en-US" sz="1400" b="1" dirty="0">
              <a:ea typeface="Arial" panose="020B0604020202020204" pitchFamily="34" charset="0"/>
            </a:endParaRPr>
          </a:p>
        </p:txBody>
      </p:sp>
      <p:sp>
        <p:nvSpPr>
          <p:cNvPr id="3086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409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0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4101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410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Rectangle 11"/>
          <p:cNvSpPr/>
          <p:nvPr/>
        </p:nvSpPr>
        <p:spPr>
          <a:xfrm>
            <a:off x="4732338" y="1268413"/>
            <a:ext cx="2513012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Agenda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3080" name="Rectangle 16"/>
          <p:cNvSpPr>
            <a:spLocks noChangeArrowheads="1"/>
          </p:cNvSpPr>
          <p:nvPr/>
        </p:nvSpPr>
        <p:spPr bwMode="auto">
          <a:xfrm>
            <a:off x="1198563" y="1536700"/>
            <a:ext cx="9580563" cy="3694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1. Introduction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2. Aim of the project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3. Motivation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4.Proposed system Architecture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5. Use case Diagram ,Class Diagram, DFD, ER diagram, State Diagram and Activity diagram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6.Modules and their descriptions with algorithms or pseudo codes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7.Code Implementation (expected completion of work 60%)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8. Screen shot of the development phase.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9.References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05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512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5125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5126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7" name="Rectangle 11"/>
          <p:cNvSpPr/>
          <p:nvPr/>
        </p:nvSpPr>
        <p:spPr>
          <a:xfrm>
            <a:off x="4732338" y="1268413"/>
            <a:ext cx="2513012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Introduction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5128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9" name="Rectangle 11"/>
          <p:cNvSpPr/>
          <p:nvPr/>
        </p:nvSpPr>
        <p:spPr>
          <a:xfrm rot="-10800000" flipV="1">
            <a:off x="795338" y="2136775"/>
            <a:ext cx="10083800" cy="2584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Evolution of LLM Agents:</a:t>
            </a:r>
            <a:r>
              <a:rPr lang="en-US" altLang="en-US" dirty="0">
                <a:latin typeface="Arial" panose="020B0604020202020204" pitchFamily="34" charset="0"/>
              </a:rPr>
              <a:t> Autonomous AI agents are shifting from isolated text generators to tool-using workflows (reading emails, querying databases, executing web calls).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Emerging Vulnerability:</a:t>
            </a:r>
            <a:r>
              <a:rPr lang="en-US" altLang="en-US" dirty="0">
                <a:latin typeface="Arial" panose="020B0604020202020204" pitchFamily="34" charset="0"/>
              </a:rPr>
              <a:t> Giving LLM agents persistent API credentials and automated tool access creates a high-risk security boundary—leaving them susceptible to indirect prompt injection.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Sentinel-Z Overview:</a:t>
            </a:r>
            <a:r>
              <a:rPr lang="en-US" altLang="en-US" dirty="0">
                <a:latin typeface="Arial" panose="020B0604020202020204" pitchFamily="34" charset="0"/>
              </a:rPr>
              <a:t> A software-only, zero-trust security gateway that operates inline to track agent session trajectories in real time and enforce runtime capability revocations.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614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6149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615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1" name="Rectangle 11"/>
          <p:cNvSpPr/>
          <p:nvPr/>
        </p:nvSpPr>
        <p:spPr>
          <a:xfrm>
            <a:off x="4492625" y="1370013"/>
            <a:ext cx="2513013" cy="430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Aim of the project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6152" name="Rectangle 16"/>
          <p:cNvSpPr/>
          <p:nvPr/>
        </p:nvSpPr>
        <p:spPr>
          <a:xfrm>
            <a:off x="1198563" y="1536700"/>
            <a:ext cx="9580562" cy="1711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</a:t>
            </a:r>
            <a:endParaRPr lang="en-US" altLang="en-US" sz="1800" b="1" dirty="0">
              <a:ea typeface="Arial" panose="020B0604020202020204" pitchFamily="34" charset="0"/>
            </a:endParaRPr>
          </a:p>
        </p:txBody>
      </p:sp>
      <p:sp>
        <p:nvSpPr>
          <p:cNvPr id="6153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4" name="Rectangle 11"/>
          <p:cNvSpPr/>
          <p:nvPr/>
        </p:nvSpPr>
        <p:spPr>
          <a:xfrm>
            <a:off x="649288" y="1844675"/>
            <a:ext cx="10893425" cy="3416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Session-Level Behavioral Tracking (C1):</a:t>
            </a:r>
            <a:r>
              <a:rPr lang="en-US" altLang="en-US" dirty="0">
                <a:latin typeface="Arial" panose="020B0604020202020204" pitchFamily="34" charset="0"/>
              </a:rPr>
              <a:t> Transition from isolated call evaluation to a dynamic Bayes belief filter (POMDP) that aggregates five multi-modal risk signals over continuous session steps.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Enforced Capability Revocation (C2):</a:t>
            </a:r>
            <a:r>
              <a:rPr lang="en-US" altLang="en-US" dirty="0">
                <a:latin typeface="Arial" panose="020B0604020202020204" pitchFamily="34" charset="0"/>
              </a:rPr>
              <a:t> Neutralize threats at the runtime broker layer by revoking session credential tokens, terminating the entire action class rather than relying on LLM self-compliance.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Adaptive Adversarial Evaluation (C3):</a:t>
            </a:r>
            <a:r>
              <a:rPr lang="en-US" altLang="en-US" dirty="0">
                <a:latin typeface="Arial" panose="020B0604020202020204" pitchFamily="34" charset="0"/>
              </a:rPr>
              <a:t> Benchmark defense robustness against adaptive, multi-round attack mutations using real-world enterprise task suites (AgentDojo).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Graduated Interventions with Utility Balance (C4):</a:t>
            </a:r>
            <a:r>
              <a:rPr lang="en-US" altLang="en-US" dirty="0">
                <a:latin typeface="Arial" panose="020B0604020202020204" pitchFamily="34" charset="0"/>
              </a:rPr>
              <a:t> Execute dynamic responses—ranging from step-up verification to full revocation—to optimize the trade-off between task completion and security enforcement.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71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7173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7174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Rectangle 11"/>
          <p:cNvSpPr/>
          <p:nvPr/>
        </p:nvSpPr>
        <p:spPr>
          <a:xfrm>
            <a:off x="4838700" y="1370013"/>
            <a:ext cx="2514600" cy="430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Motivation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7176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7" name="Rectangle 10"/>
          <p:cNvSpPr/>
          <p:nvPr/>
        </p:nvSpPr>
        <p:spPr>
          <a:xfrm>
            <a:off x="700088" y="2033588"/>
            <a:ext cx="10888662" cy="31384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Failure of Static / Per-Call Filtering:</a:t>
            </a:r>
            <a:r>
              <a:rPr lang="en-US" altLang="en-US" dirty="0">
                <a:latin typeface="Arial" panose="020B0604020202020204" pitchFamily="34" charset="0"/>
              </a:rPr>
              <a:t> Traditional AI firewalls evaluate tool calls in isolation (e.g., </a:t>
            </a:r>
            <a:r>
              <a:rPr lang="en-US" altLang="en-US" i="1" dirty="0">
                <a:latin typeface="Arial" panose="020B0604020202020204" pitchFamily="34" charset="0"/>
              </a:rPr>
              <a:t>Is "read file" allowed? Yes</a:t>
            </a:r>
            <a:r>
              <a:rPr lang="en-US" altLang="en-US" dirty="0">
                <a:latin typeface="Arial" panose="020B0604020202020204" pitchFamily="34" charset="0"/>
              </a:rPr>
              <a:t>), missing the cumulative context of multi-step hijack trajectories.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Inefficacy of Single-Call Refusal:</a:t>
            </a:r>
            <a:r>
              <a:rPr lang="en-US" altLang="en-US" dirty="0">
                <a:latin typeface="Arial" panose="020B0604020202020204" pitchFamily="34" charset="0"/>
              </a:rPr>
              <a:t> Blocking an individual action leaves session credentials active, allowing compromised agents to attempt alternate exploitation paths.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Underestimated Adaptive Threat:</a:t>
            </a:r>
            <a:r>
              <a:rPr lang="en-US" altLang="en-US" dirty="0">
                <a:latin typeface="Arial" panose="020B0604020202020204" pitchFamily="34" charset="0"/>
              </a:rPr>
              <a:t> Static benchmarks fail to capture real-world risks; attackers mutate injection strategies dynamically when initially blocked.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Need for Zero-Trust Orchestration:</a:t>
            </a:r>
            <a:r>
              <a:rPr lang="en-US" altLang="en-US" dirty="0">
                <a:latin typeface="Arial" panose="020B0604020202020204" pitchFamily="34" charset="0"/>
              </a:rPr>
              <a:t> Enterprise agent deployments require continuous trajectory tracking coupled with immediate credential revocation to eliminate the blast radius.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71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7173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7174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Rectangle 11"/>
          <p:cNvSpPr/>
          <p:nvPr/>
        </p:nvSpPr>
        <p:spPr>
          <a:xfrm>
            <a:off x="4838700" y="849630"/>
            <a:ext cx="2514600" cy="1670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System Architecture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7176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fig1_system_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1590"/>
            <a:ext cx="1186561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AutoShape 4" descr="vtu.ac.in - The Statesman"/>
          <p:cNvSpPr>
            <a:spLocks noChangeAspect="1"/>
          </p:cNvSpPr>
          <p:nvPr/>
        </p:nvSpPr>
        <p:spPr>
          <a:xfrm>
            <a:off x="8447088" y="1431925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819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AutoShape 6" descr="The Oxford College of Engineering ...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sp>
        <p:nvSpPr>
          <p:cNvPr id="8197" name="AutoShape 8" descr="The Oxford College of Engineering ...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819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9" name="Rectangle 11"/>
          <p:cNvSpPr/>
          <p:nvPr/>
        </p:nvSpPr>
        <p:spPr>
          <a:xfrm>
            <a:off x="4838700" y="633413"/>
            <a:ext cx="2514600" cy="431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cs typeface="Arial" panose="020B0604020202020204" pitchFamily="34" charset="0"/>
              </a:rPr>
              <a:t>USECASE DIAGRAM</a:t>
            </a:r>
            <a:endParaRPr lang="en-US" altLang="en-US" sz="22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8200" name="Rectangle 16"/>
          <p:cNvSpPr/>
          <p:nvPr/>
        </p:nvSpPr>
        <p:spPr>
          <a:xfrm>
            <a:off x="1198563" y="1536700"/>
            <a:ext cx="9580562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cs typeface="Arial" panose="020B0604020202020204" pitchFamily="34" charset="0"/>
              </a:rPr>
              <a:t> </a:t>
            </a:r>
            <a:endParaRPr lang="en-US" altLang="en-US" sz="1800" b="1" dirty="0">
              <a:ea typeface="Arial" panose="020B0604020202020204" pitchFamily="34" charset="0"/>
            </a:endParaRPr>
          </a:p>
        </p:txBody>
      </p:sp>
      <p:sp>
        <p:nvSpPr>
          <p:cNvPr id="8201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20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3" y="1536700"/>
            <a:ext cx="11572875" cy="4819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030663" y="136525"/>
            <a:ext cx="9086850" cy="857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CLASS DIAGRAM</a:t>
            </a:r>
            <a:endParaRPr kumimoji="0" lang="en-I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9219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19138" y="998538"/>
            <a:ext cx="10634662" cy="5187950"/>
          </a:xfrm>
        </p:spPr>
      </p:pic>
      <p:sp>
        <p:nvSpPr>
          <p:cNvPr id="9220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549650" y="0"/>
            <a:ext cx="8213725" cy="10874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DATA FLOW DIAGRAM</a:t>
            </a:r>
            <a:endParaRPr kumimoji="0" lang="en-I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0243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1303338"/>
            <a:ext cx="6167438" cy="4835525"/>
          </a:xfrm>
        </p:spPr>
      </p:pic>
      <p:sp>
        <p:nvSpPr>
          <p:cNvPr id="10244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AutoShape 8" descr="Generated image"/>
          <p:cNvSpPr>
            <a:spLocks noChangeAspect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IN" altLang="x-none" dirty="0">
              <a:latin typeface="Arial" panose="020B0604020202020204" pitchFamily="34" charset="0"/>
            </a:endParaRPr>
          </a:p>
        </p:txBody>
      </p:sp>
      <p:sp>
        <p:nvSpPr>
          <p:cNvPr id="10247" name="AutoShape 10" descr="Generated image"/>
          <p:cNvSpPr>
            <a:spLocks noChangeAspect="1"/>
          </p:cNvSpPr>
          <p:nvPr/>
        </p:nvSpPr>
        <p:spPr>
          <a:xfrm>
            <a:off x="6096000" y="228600"/>
            <a:ext cx="3505200" cy="3505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IN" altLang="x-none" dirty="0">
              <a:latin typeface="Arial" panose="020B0604020202020204" pitchFamily="34" charset="0"/>
            </a:endParaRPr>
          </a:p>
        </p:txBody>
      </p:sp>
      <p:pic>
        <p:nvPicPr>
          <p:cNvPr id="10248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888" y="1235075"/>
            <a:ext cx="4964112" cy="4692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257675" y="-263525"/>
            <a:ext cx="7351713" cy="15097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ER DIAGRAM</a:t>
            </a:r>
            <a:endParaRPr kumimoji="0" lang="en-I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267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19138" y="1409700"/>
            <a:ext cx="10634662" cy="4767263"/>
          </a:xfrm>
        </p:spPr>
      </p:pic>
      <p:sp>
        <p:nvSpPr>
          <p:cNvPr id="1126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3927475" y="265113"/>
            <a:ext cx="7685088" cy="869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STATE DIAGRAM</a:t>
            </a:r>
            <a:endParaRPr kumimoji="0" lang="en-I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2291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84313" y="1263650"/>
            <a:ext cx="9223375" cy="4913313"/>
          </a:xfrm>
        </p:spPr>
      </p:pic>
      <p:sp>
        <p:nvSpPr>
          <p:cNvPr id="1229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3686175" y="57150"/>
            <a:ext cx="7566025" cy="7143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ACTIVITY DIAGRAM</a:t>
            </a:r>
            <a:endParaRPr kumimoji="0" lang="en-I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3315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316038" y="1166813"/>
            <a:ext cx="9059862" cy="5032375"/>
          </a:xfrm>
        </p:spPr>
      </p:pic>
      <p:sp>
        <p:nvSpPr>
          <p:cNvPr id="13316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938463" y="365125"/>
            <a:ext cx="8415338" cy="7143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MODULES AND THEIR DESCRIPTION</a:t>
            </a:r>
            <a:endParaRPr kumimoji="0" lang="en-I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4339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157288"/>
          <a:ext cx="10293351" cy="5495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31117"/>
                <a:gridCol w="3431117"/>
                <a:gridCol w="3431117"/>
              </a:tblGrid>
              <a:tr h="322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Module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Responsibility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Algorithm / method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Interception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effectLst/>
                        </a:rPr>
                        <a:t>Capture every tool call before execution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Proxy wrapper with hard timeout; deny on timeout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Signal: injection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Detect instruction-like content in tool results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Fine-tuned DeBERTa sequence classifier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Signal: alignment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Measure fit between call and stated task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Cosine distance on sentence embeddings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Signal: privilege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Measure reach beyond task requirement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Ordinal sensitivity tier difference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Signal: taint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Track influence of untrusted content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Set-based taint propagation across steps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322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Signal: novelty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Detect unusual tool sequences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Laplace-smoothed trigram novelty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Hazard model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Encode signals as an observation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Logistic regression, quantised to 10 symbols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Belief filter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Maintain distribution over hidden states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Discrete Bayes filter, predict then correct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322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Policy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Select graduated response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Finite-horizon grid value iteration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52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Capability broker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Apply and enforce the decision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Token issue, scope restriction, revocation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  <a:tr h="322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Evidence log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Produce tamper-evident audit trail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effectLst/>
                        </a:rPr>
                        <a:t>SHA-256 hash chain over canonical JSON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1" marR="57151" marT="38104" marB="38104"/>
                </a:tc>
              </a:tr>
            </a:tbl>
          </a:graphicData>
        </a:graphic>
      </p:graphicFrame>
      <p:pic>
        <p:nvPicPr>
          <p:cNvPr id="1439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374775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95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134938"/>
            <a:ext cx="714375" cy="714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TextBox 3"/>
          <p:cNvSpPr txBox="1"/>
          <p:nvPr/>
        </p:nvSpPr>
        <p:spPr>
          <a:xfrm>
            <a:off x="228600" y="0"/>
            <a:ext cx="11734800" cy="6550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ts val="600"/>
              </a:spcAft>
              <a:buFontTx/>
              <a:buNone/>
            </a:pPr>
            <a:r>
              <a:rPr lang="en-I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Core Algorithm </a:t>
            </a:r>
            <a:r>
              <a:rPr lang="en-I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—</a:t>
            </a:r>
            <a:r>
              <a:rPr lang="en-I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Belief Update and Action Selection</a:t>
            </a:r>
            <a:endParaRPr lang="en-IN" altLang="en-US" sz="3600" b="1" dirty="0">
              <a:solidFill>
                <a:srgbClr val="2E74B5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INPUT : pending tool call c, session history H, belief b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OUTPUT: action a in {ALLOW, MONITOR, SCOPE_DOWN, STEP_UP, REVOKE}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1.  x  &lt;- extract_features(c, H)          // 5 signals + running max + slope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  p  &lt;- hazard_model(x)                 // P(harm within k steps)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3.  o  &lt;- quantise(p, taint(c))           // observation symbol, 0..9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4.  // predict step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5.  for each state s' in S: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6.      b_pred[s'] &lt;- SUM over s of T[s][a_prev][s'] * b[s]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7.  // correct step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8.  for each state s' in S: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9.      b_new[s'] &lt;- O[s'][o] * b_pred[s']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10. eta &lt;- SUM of b_new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11. if eta &lt; 1e-12 then b_new &lt;- b_pred else b_new &lt;- b_new / eta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12. a &lt;- policy_lookup(b_new)             // nearest grid point on 5-simplex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13. append_decision_record(c, x, p, o, b_new, a)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14. return a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Code implementation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6387" name="Content Placeholder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endParaRPr lang="en-IN" altLang="x-none" dirty="0"/>
          </a:p>
        </p:txBody>
      </p:sp>
      <p:sp>
        <p:nvSpPr>
          <p:cNvPr id="1638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cs typeface="Arial" panose="020B0604020202020204" pitchFamily="34" charset="0"/>
              </a:rPr>
            </a:fld>
            <a:endParaRPr lang="en-US" altLang="en-US" sz="1200" dirty="0">
              <a:solidFill>
                <a:srgbClr val="898989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38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3" y="1284288"/>
            <a:ext cx="5645150" cy="3189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25" y="1327150"/>
            <a:ext cx="5511800" cy="3101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1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050" y="4675188"/>
            <a:ext cx="6308725" cy="2046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577850"/>
            <a:ext cx="6157913" cy="6143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75" y="473075"/>
            <a:ext cx="5373688" cy="6142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Slide Number Placeholder 1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8" y="136525"/>
            <a:ext cx="11709400" cy="6403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838200" y="661988"/>
            <a:ext cx="10515600" cy="5514975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50000"/>
              </a:lnSpc>
              <a:buNone/>
            </a:pPr>
            <a:r>
              <a:rPr lang="en-IN" altLang="x-none" sz="1200" b="1" dirty="0"/>
              <a:t>9. Yao, Q., Wang, Q., et al.</a:t>
            </a:r>
            <a:br>
              <a:rPr lang="en-IN" altLang="x-none" sz="1200" b="1" dirty="0"/>
            </a:br>
            <a:r>
              <a:rPr lang="en-IN" altLang="x-none" sz="1200" b="1" dirty="0"/>
              <a:t>"Dynamic Access Control and Authorization System based on Zero-Trust Architecture." ACM CCRIS, 2026</a:t>
            </a:r>
            <a:endParaRPr lang="en-IN" altLang="x-none" sz="1200" b="1" dirty="0"/>
          </a:p>
          <a:p>
            <a:pPr marL="0" indent="0">
              <a:buNone/>
            </a:pPr>
            <a:r>
              <a:rPr lang="en-IN" altLang="x-none" sz="1200" b="1" dirty="0"/>
              <a:t>10. Mahida, A.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"An Intellectual Zero Trust Security Framework Using Deep Reinforcement Learning for Predictive Threat Mitigation." IEEE Access, 2026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11. Cao, X., et al.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"Exploring LLM-Based Multi-Agent Situation Awareness for Zero-Trust Space-Air-Ground Integrated Network." IEEE JSAC, 2025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12. Talli, P., et al.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"Pragmatic Communication for Remote Control of Finite-State Markov Processes." IEEE JSAC, 2025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13. Selimović, T., Peti, M., and Bogdan, S.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"Multi-Agent Decision Making under Partial Observability using POMDP." IEEE Access, 2024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14. Kweider, L., Abou Kassem, M., and Sandouk, U.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"Anomalous State Sequence Modeling to Enhance Safety in Reinforcement Learning." IEEE Access, 2024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15. Kapoor, R., and Kas, M.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"Breaking the Observability Tax: Dynamic Resolution Anomaly Detection via Topology-Aware LLM Agents." IEEE Access, 2026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16. Yang, J., et al.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"SwarmSense-DNN: A Trustworthy and Decentralized Neural Framework for Proactive Anomaly Defense in IoT." IEEE Transactions on Consumer Electronics, 2026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17. Mahida, A.</a:t>
            </a:r>
            <a:br>
              <a:rPr lang="en-IN" altLang="x-none" sz="1200" b="1" dirty="0"/>
            </a:br>
            <a:br>
              <a:rPr lang="en-IN" altLang="x-none" sz="1200" b="1" dirty="0"/>
            </a:br>
            <a:r>
              <a:rPr lang="en-IN" altLang="x-none" sz="1200" b="1" dirty="0"/>
              <a:t>"An Intellectual Zero Trust Security Framework Using Deep Reinforcement Learning for Predictive Threat Mitigation in AI-Based Fraud Detection Systems." IEEE Access, 2026</a:t>
            </a:r>
            <a:br>
              <a:rPr lang="en-IN" altLang="x-none" sz="1200" b="1" dirty="0">
                <a:cs typeface="Arial" panose="020B0604020202020204" pitchFamily="34" charset="0"/>
              </a:rPr>
            </a:br>
            <a:endParaRPr lang="en-IN" altLang="x-none" sz="1200" dirty="0"/>
          </a:p>
        </p:txBody>
      </p:sp>
      <p:pic>
        <p:nvPicPr>
          <p:cNvPr id="1945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7150"/>
            <a:ext cx="1128713" cy="714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88" y="134938"/>
            <a:ext cx="636587" cy="636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6170</Words>
  <Application>WPS Presentation</Application>
  <PresentationFormat>Widescreen</PresentationFormat>
  <Paragraphs>219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 Light</vt:lpstr>
      <vt:lpstr>Times New Roman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CLASS DIAGRAM</vt:lpstr>
      <vt:lpstr>DATA FLOW DIAGRAM</vt:lpstr>
      <vt:lpstr>ER DIAGRAM</vt:lpstr>
      <vt:lpstr>STATE DIAGRAM</vt:lpstr>
      <vt:lpstr>ACTIVITY DIAGRAM</vt:lpstr>
      <vt:lpstr>MODULES AND THEIR DESCRIPTION</vt:lpstr>
      <vt:lpstr>PowerPoint 演示文稿</vt:lpstr>
      <vt:lpstr>Code implementation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sufiyan khan</cp:lastModifiedBy>
  <cp:revision>23</cp:revision>
  <dcterms:created xsi:type="dcterms:W3CDTF">2026-02-20T08:02:00Z</dcterms:created>
  <dcterms:modified xsi:type="dcterms:W3CDTF">2026-08-17T02:57:37Z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AE9F72A2482E4716AB08E8AEB853B655_12</vt:lpwstr>
  </property>
</Properties>
</file>